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8EDB-082F-E07B-FBA8-39AFC2D5C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992588"/>
            <a:ext cx="8361229" cy="2098226"/>
          </a:xfrm>
        </p:spPr>
        <p:txBody>
          <a:bodyPr/>
          <a:lstStyle/>
          <a:p>
            <a:r>
              <a:rPr lang="en-IN" dirty="0"/>
              <a:t> Smart Cart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F520F-B592-460A-6AD0-A82FBBF97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6107" y="3421014"/>
            <a:ext cx="6831673" cy="1086237"/>
          </a:xfrm>
        </p:spPr>
        <p:txBody>
          <a:bodyPr/>
          <a:lstStyle/>
          <a:p>
            <a:r>
              <a:rPr lang="en-IN" dirty="0"/>
              <a:t>A Scalable Microservices-Based E-Commerce Platform</a:t>
            </a:r>
          </a:p>
        </p:txBody>
      </p:sp>
    </p:spTree>
    <p:extLst>
      <p:ext uri="{BB962C8B-B14F-4D97-AF65-F5344CB8AC3E}">
        <p14:creationId xmlns:p14="http://schemas.microsoft.com/office/powerpoint/2010/main" val="263150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52F7E-42BC-55D4-3689-944C0CD5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52400"/>
            <a:ext cx="9601200" cy="1485900"/>
          </a:xfrm>
        </p:spPr>
        <p:txBody>
          <a:bodyPr/>
          <a:lstStyle/>
          <a:p>
            <a:r>
              <a:rPr lang="en-IN" sz="4000" b="1" dirty="0"/>
              <a:t>Table of Contents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E3BE0-34B3-EB91-0FDD-95D4294D1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924983"/>
            <a:ext cx="9601200" cy="358140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b="1" dirty="0"/>
              <a:t>Problem Statement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Our 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System Overview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Technology Stack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Architecture &amp; Design</a:t>
            </a:r>
          </a:p>
          <a:p>
            <a:pPr marL="987552" lvl="1" indent="-457200">
              <a:buFont typeface="+mj-lt"/>
              <a:buAutoNum type="arabicPeriod"/>
            </a:pPr>
            <a:r>
              <a:rPr lang="en-IN" b="1" i="0" dirty="0"/>
              <a:t>System Architecture</a:t>
            </a:r>
          </a:p>
          <a:p>
            <a:pPr marL="987552" lvl="1" indent="-457200">
              <a:buFont typeface="+mj-lt"/>
              <a:buAutoNum type="arabicPeriod"/>
            </a:pPr>
            <a:r>
              <a:rPr lang="en-IN" b="1" i="0" dirty="0"/>
              <a:t>Use Case Diagram</a:t>
            </a:r>
          </a:p>
          <a:p>
            <a:pPr marL="987552" lvl="1" indent="-457200">
              <a:buFont typeface="+mj-lt"/>
              <a:buAutoNum type="arabicPeriod"/>
            </a:pPr>
            <a:r>
              <a:rPr lang="en-IN" b="1" i="0" dirty="0"/>
              <a:t>Sequence Diagram</a:t>
            </a:r>
          </a:p>
          <a:p>
            <a:pPr marL="987552" lvl="1" indent="-457200">
              <a:buFont typeface="+mj-lt"/>
              <a:buAutoNum type="arabicPeriod"/>
            </a:pPr>
            <a:r>
              <a:rPr lang="en-IN" b="1" i="0" dirty="0"/>
              <a:t>ER Diagram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System Features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Project Screenshots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Conclusion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Future Enhancements</a:t>
            </a:r>
            <a:br>
              <a:rPr lang="en-IN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14181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6758-C46B-81E3-914F-B49ABAE62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04800"/>
            <a:ext cx="9601200" cy="84666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B34C4-40DE-0408-64AE-27B6572B0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133" y="1151467"/>
            <a:ext cx="9601200" cy="5401733"/>
          </a:xfrm>
        </p:spPr>
        <p:txBody>
          <a:bodyPr>
            <a:normAutofit/>
          </a:bodyPr>
          <a:lstStyle/>
          <a:p>
            <a:r>
              <a:rPr lang="en-GB" dirty="0"/>
              <a:t>Traditional monolithic e-commerce platforms suffer from </a:t>
            </a:r>
            <a:r>
              <a:rPr lang="en-GB" b="1" dirty="0"/>
              <a:t>tight coupling</a:t>
            </a:r>
            <a:r>
              <a:rPr lang="en-GB" dirty="0"/>
              <a:t>, making even small changes require a full system redeployment.</a:t>
            </a:r>
          </a:p>
          <a:p>
            <a:r>
              <a:rPr lang="en-GB" b="1" dirty="0"/>
              <a:t>Scaling bottlenecks</a:t>
            </a:r>
            <a:r>
              <a:rPr lang="en-GB" dirty="0"/>
              <a:t> — if the product </a:t>
            </a:r>
            <a:r>
              <a:rPr lang="en-GB" dirty="0" err="1"/>
              <a:t>catalog</a:t>
            </a:r>
            <a:r>
              <a:rPr lang="en-GB" dirty="0"/>
              <a:t> gets heavy traffic, the entire application must be scaled up, wasting resources.</a:t>
            </a:r>
          </a:p>
          <a:p>
            <a:r>
              <a:rPr lang="en-GB" b="1" dirty="0"/>
              <a:t>Single point of failure</a:t>
            </a:r>
            <a:r>
              <a:rPr lang="en-GB" dirty="0"/>
              <a:t> — one service crashing brings down the entire application.</a:t>
            </a:r>
          </a:p>
          <a:p>
            <a:r>
              <a:rPr lang="en-GB" dirty="0"/>
              <a:t>Managing </a:t>
            </a:r>
            <a:r>
              <a:rPr lang="en-GB" b="1" dirty="0"/>
              <a:t>multiple user roles</a:t>
            </a:r>
            <a:r>
              <a:rPr lang="en-GB" dirty="0"/>
              <a:t> (Customer, Vendor, Admin) within one codebase leads to complex, unmaintainable code.</a:t>
            </a:r>
          </a:p>
          <a:p>
            <a:r>
              <a:rPr lang="en-GB" b="1" dirty="0"/>
              <a:t>Slow development cycles</a:t>
            </a:r>
            <a:r>
              <a:rPr lang="en-GB" dirty="0"/>
              <a:t> — different teams cannot work independently on different modules.</a:t>
            </a:r>
          </a:p>
          <a:p>
            <a:r>
              <a:rPr lang="en-GB" dirty="0"/>
              <a:t>Lack of a </a:t>
            </a:r>
            <a:r>
              <a:rPr lang="en-GB" b="1" dirty="0"/>
              <a:t>real-time notification system</a:t>
            </a:r>
            <a:r>
              <a:rPr lang="en-GB" dirty="0"/>
              <a:t> for order updates and payment confirmations.</a:t>
            </a:r>
          </a:p>
          <a:p>
            <a:r>
              <a:rPr lang="en-GB" dirty="0"/>
              <a:t>No separation of data — all entities share one large database, creating </a:t>
            </a:r>
            <a:r>
              <a:rPr lang="en-GB" b="1" dirty="0"/>
              <a:t>data coupling</a:t>
            </a:r>
            <a:r>
              <a:rPr lang="en-GB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9008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160E5-FA95-8D5B-3B86-814C3370A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11667"/>
            <a:ext cx="9601200" cy="9313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Our 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9EE6C-9960-55CA-AC63-61D0DC629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43000"/>
            <a:ext cx="9601200" cy="5562600"/>
          </a:xfrm>
        </p:spPr>
        <p:txBody>
          <a:bodyPr>
            <a:normAutofit/>
          </a:bodyPr>
          <a:lstStyle/>
          <a:p>
            <a:r>
              <a:rPr lang="en-GB" dirty="0"/>
              <a:t>Design and develop a </a:t>
            </a:r>
            <a:r>
              <a:rPr lang="en-GB" b="1" dirty="0"/>
              <a:t>fully functional e-commerce platform</a:t>
            </a:r>
            <a:r>
              <a:rPr lang="en-GB" dirty="0"/>
              <a:t> using a microservices architecture.</a:t>
            </a:r>
          </a:p>
          <a:p>
            <a:r>
              <a:rPr lang="en-GB" dirty="0"/>
              <a:t> Implement </a:t>
            </a:r>
            <a:r>
              <a:rPr lang="en-GB" b="1" dirty="0"/>
              <a:t>role-based access control</a:t>
            </a:r>
            <a:r>
              <a:rPr lang="en-GB" dirty="0"/>
              <a:t> for three roles: Customer, Vendor, and Admin.</a:t>
            </a:r>
          </a:p>
          <a:p>
            <a:r>
              <a:rPr lang="en-GB" dirty="0"/>
              <a:t> Build an </a:t>
            </a:r>
            <a:r>
              <a:rPr lang="en-GB" b="1" dirty="0"/>
              <a:t>API Gateway</a:t>
            </a:r>
            <a:r>
              <a:rPr lang="en-GB" dirty="0"/>
              <a:t> as a single entry point for all client requests with JWT authentication.</a:t>
            </a:r>
          </a:p>
          <a:p>
            <a:r>
              <a:rPr lang="en-GB" dirty="0"/>
              <a:t> Use </a:t>
            </a:r>
            <a:r>
              <a:rPr lang="en-GB" b="1" dirty="0"/>
              <a:t>Netflix Eureka</a:t>
            </a:r>
            <a:r>
              <a:rPr lang="en-GB" dirty="0"/>
              <a:t> for dynamic service discovery and load balancing.</a:t>
            </a:r>
          </a:p>
          <a:p>
            <a:r>
              <a:rPr lang="en-GB" dirty="0"/>
              <a:t> Integrate </a:t>
            </a:r>
            <a:r>
              <a:rPr lang="en-GB" b="1" dirty="0"/>
              <a:t>Apache Kafka</a:t>
            </a:r>
            <a:r>
              <a:rPr lang="en-GB" dirty="0"/>
              <a:t> for asynchronous, event-driven communication between services.</a:t>
            </a:r>
          </a:p>
          <a:p>
            <a:r>
              <a:rPr lang="en-GB" dirty="0"/>
              <a:t> Implement a </a:t>
            </a:r>
            <a:r>
              <a:rPr lang="en-GB" b="1" dirty="0" err="1"/>
              <a:t>Razorpay</a:t>
            </a:r>
            <a:r>
              <a:rPr lang="en-GB" b="1" dirty="0"/>
              <a:t> payment gateway</a:t>
            </a:r>
            <a:r>
              <a:rPr lang="en-GB" dirty="0"/>
              <a:t> for secure online transactions.</a:t>
            </a:r>
          </a:p>
          <a:p>
            <a:r>
              <a:rPr lang="en-GB" dirty="0"/>
              <a:t> Provide </a:t>
            </a:r>
            <a:r>
              <a:rPr lang="en-GB" b="1" dirty="0"/>
              <a:t>real-time email/SMS notifications</a:t>
            </a:r>
            <a:r>
              <a:rPr lang="en-GB" dirty="0"/>
              <a:t> for order and payment events.</a:t>
            </a:r>
          </a:p>
          <a:p>
            <a:r>
              <a:rPr lang="en-GB" dirty="0"/>
              <a:t> Containerize all services using </a:t>
            </a:r>
            <a:r>
              <a:rPr lang="en-GB" b="1" dirty="0"/>
              <a:t>Docker</a:t>
            </a:r>
            <a:r>
              <a:rPr lang="en-GB" dirty="0"/>
              <a:t> for consistent deployment.</a:t>
            </a:r>
          </a:p>
          <a:p>
            <a:r>
              <a:rPr lang="en-GB" dirty="0"/>
              <a:t> Build a modern </a:t>
            </a:r>
            <a:r>
              <a:rPr lang="en-GB" b="1" dirty="0"/>
              <a:t>React.js frontend</a:t>
            </a:r>
            <a:r>
              <a:rPr lang="en-GB" dirty="0"/>
              <a:t> that communicates through the API Gateway.</a:t>
            </a:r>
          </a:p>
          <a:p>
            <a:r>
              <a:rPr lang="en-GB" dirty="0"/>
              <a:t> Ensure each microservice maintains its </a:t>
            </a:r>
            <a:r>
              <a:rPr lang="en-GB" b="1" dirty="0"/>
              <a:t>own independent MySQL database</a:t>
            </a:r>
            <a:r>
              <a:rPr lang="en-GB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8088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6D16-860A-5DA8-E283-802252AE3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35466"/>
            <a:ext cx="9601200" cy="71966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 System Overview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248575-5684-C886-EF2F-1D97446A0D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9211282"/>
              </p:ext>
            </p:extLst>
          </p:nvPr>
        </p:nvGraphicFramePr>
        <p:xfrm>
          <a:off x="1591733" y="2685627"/>
          <a:ext cx="9601200" cy="329184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2564843456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115728823"/>
                    </a:ext>
                  </a:extLst>
                </a:gridCol>
              </a:tblGrid>
              <a:tr h="183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7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7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7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7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Detail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07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7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7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8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790505"/>
                  </a:ext>
                </a:extLst>
              </a:tr>
              <a:tr h="183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7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8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7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8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Microservices (10 independent services)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08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8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8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8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172697"/>
                  </a:ext>
                </a:extLst>
              </a:tr>
              <a:tr h="183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 Security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8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8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8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9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JWT-based authentication via API Gateway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8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8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8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A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1653"/>
                  </a:ext>
                </a:extLst>
              </a:tr>
              <a:tr h="183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 Messaging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9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A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9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9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Apache Kafka (event-driven)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A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A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9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833029"/>
                  </a:ext>
                </a:extLst>
              </a:tr>
              <a:tr h="183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 Payments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9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9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9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9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Razorpay Integration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09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9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A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404521"/>
                  </a:ext>
                </a:extLst>
              </a:tr>
              <a:tr h="183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 Deployment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9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A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9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A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Docker + Docker Compose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70A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A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A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281486"/>
                  </a:ext>
                </a:extLst>
              </a:tr>
              <a:tr h="183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 Frontend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A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A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A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C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React.js (Single Page Application)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A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A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C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961978"/>
                  </a:ext>
                </a:extLst>
              </a:tr>
              <a:tr h="183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 Database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C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C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C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B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MySQL (one DB per service)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30C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C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C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B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341552"/>
                  </a:ext>
                </a:extLst>
              </a:tr>
              <a:tr h="183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 Discovery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B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B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Netflix Eureka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0B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B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152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AF2F379-3FD5-B03B-7E71-4BEFFED723D5}"/>
              </a:ext>
            </a:extLst>
          </p:cNvPr>
          <p:cNvSpPr txBox="1"/>
          <p:nvPr/>
        </p:nvSpPr>
        <p:spPr>
          <a:xfrm>
            <a:off x="1430868" y="931333"/>
            <a:ext cx="106002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What is Smart Cart?</a:t>
            </a:r>
          </a:p>
          <a:p>
            <a:endParaRPr lang="en-IN" b="1" dirty="0"/>
          </a:p>
          <a:p>
            <a:r>
              <a:rPr lang="en-GB" dirty="0"/>
              <a:t>Smart Cart is a cloud-ready, microservices-based e-commerce platform that enables customers to browse products, manage carts, place orders, and make payments — while vendors can list products and admins can manage the entire platform — all through a unified React frontend and secured API Gateway.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767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FDA09-695B-F8FA-6471-5FAECDC3A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067" y="110067"/>
            <a:ext cx="9601200" cy="7535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Technology Stack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4ADC-D846-599B-1ED7-F677474EE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6067" y="626533"/>
            <a:ext cx="9601200" cy="6121400"/>
          </a:xfrm>
        </p:spPr>
        <p:txBody>
          <a:bodyPr/>
          <a:lstStyle/>
          <a:p>
            <a:r>
              <a:rPr lang="en-IN" dirty="0"/>
              <a:t>Backend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Database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3A1AC69-7503-9D94-7C24-0373B5E30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950807"/>
              </p:ext>
            </p:extLst>
          </p:nvPr>
        </p:nvGraphicFramePr>
        <p:xfrm>
          <a:off x="1464733" y="999066"/>
          <a:ext cx="8546522" cy="358140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73261">
                  <a:extLst>
                    <a:ext uri="{9D8B030D-6E8A-4147-A177-3AD203B41FA5}">
                      <a16:colId xmlns:a16="http://schemas.microsoft.com/office/drawing/2014/main" val="2224692052"/>
                    </a:ext>
                  </a:extLst>
                </a:gridCol>
                <a:gridCol w="4273261">
                  <a:extLst>
                    <a:ext uri="{9D8B030D-6E8A-4147-A177-3AD203B41FA5}">
                      <a16:colId xmlns:a16="http://schemas.microsoft.com/office/drawing/2014/main" val="3198605525"/>
                    </a:ext>
                  </a:extLst>
                </a:gridCol>
              </a:tblGrid>
              <a:tr h="325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>
                          <a:effectLst/>
                        </a:rPr>
                        <a:t>Technology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>
                          <a:effectLst/>
                        </a:rPr>
                        <a:t>Purpose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773183851"/>
                  </a:ext>
                </a:extLst>
              </a:tr>
              <a:tr h="32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Java 17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Primary programming language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1998946975"/>
                  </a:ext>
                </a:extLst>
              </a:tr>
              <a:tr h="32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effectLst/>
                        </a:rPr>
                        <a:t>Spring Boot 3.x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Microservice framework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3657899607"/>
                  </a:ext>
                </a:extLst>
              </a:tr>
              <a:tr h="32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Spring Security + JWT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Authentication &amp; Authorization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1664338619"/>
                  </a:ext>
                </a:extLst>
              </a:tr>
              <a:tr h="32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Spring Cloud Gateway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API Gateway / Routing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4206825316"/>
                  </a:ext>
                </a:extLst>
              </a:tr>
              <a:tr h="32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Netflix Eureka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Service Discovery &amp; Registry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3279339337"/>
                  </a:ext>
                </a:extLst>
              </a:tr>
              <a:tr h="32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OpenFeign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Synchronous inter-service communication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1247588670"/>
                  </a:ext>
                </a:extLst>
              </a:tr>
              <a:tr h="32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Apache Kafka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Asynchronous event streaming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913892996"/>
                  </a:ext>
                </a:extLst>
              </a:tr>
              <a:tr h="32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Spring Data JPA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ORM / Database access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958136574"/>
                  </a:ext>
                </a:extLst>
              </a:tr>
              <a:tr h="32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Lombok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Boilerplate code reduction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490306034"/>
                  </a:ext>
                </a:extLst>
              </a:tr>
              <a:tr h="32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effectLst/>
                        </a:rPr>
                        <a:t>Maven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effectLst/>
                        </a:rPr>
                        <a:t>Build &amp; dependency management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370327656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86FC2C9-380D-F62F-9E71-368BE60BE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17600"/>
              </p:ext>
            </p:extLst>
          </p:nvPr>
        </p:nvGraphicFramePr>
        <p:xfrm>
          <a:off x="1540933" y="5493174"/>
          <a:ext cx="9601200" cy="7315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4087348177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1933458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effectLst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effectLst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9602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MySQL 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Relational database (one per service)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9739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197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9E4AA-A89A-3301-0627-F99116347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133" y="101599"/>
            <a:ext cx="9601200" cy="1045633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Frontend</a:t>
            </a: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r>
              <a:rPr lang="en-IN" dirty="0"/>
              <a:t>Infrastructure &amp; DevOps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7F11C7-0CE5-1B91-23E7-35D61F3E87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002340"/>
              </p:ext>
            </p:extLst>
          </p:nvPr>
        </p:nvGraphicFramePr>
        <p:xfrm>
          <a:off x="1312334" y="965199"/>
          <a:ext cx="96012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1774092137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0455614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effectLst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effectLst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493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React.js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Single Page 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1618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Axios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HTTP client for API calls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8591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React Router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Client-side routing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4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Bootstrap / 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UI Styling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85877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F707B7-1936-5671-B59C-65B2E822C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780494"/>
              </p:ext>
            </p:extLst>
          </p:nvPr>
        </p:nvGraphicFramePr>
        <p:xfrm>
          <a:off x="1430867" y="4440767"/>
          <a:ext cx="96012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1857653677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5038771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effectLst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effectLst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617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Docker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Containerization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094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Docker Compose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Multi-container orchestration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150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effectLst/>
                        </a:rPr>
                        <a:t>Razorpay</a:t>
                      </a:r>
                      <a:r>
                        <a:rPr lang="en-IN" dirty="0">
                          <a:effectLst/>
                        </a:rPr>
                        <a:t>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Payment gateway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5094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Postman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API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416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817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C6BE2-3265-7882-3871-F0639E983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32" y="203200"/>
            <a:ext cx="4821767" cy="533400"/>
          </a:xfrm>
        </p:spPr>
        <p:txBody>
          <a:bodyPr>
            <a:normAutofit fontScale="90000"/>
          </a:bodyPr>
          <a:lstStyle/>
          <a:p>
            <a:r>
              <a:rPr lang="en-IN" dirty="0"/>
              <a:t>System Architecture</a:t>
            </a:r>
            <a:br>
              <a:rPr lang="en-IN" dirty="0"/>
            </a:br>
            <a:br>
              <a:rPr lang="en-IN" sz="4000" dirty="0"/>
            </a:br>
            <a:endParaRPr lang="en-IN" sz="40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F556025F-6E3C-F5A3-9DCE-8B190244D58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447" r="1447"/>
          <a:stretch>
            <a:fillRect/>
          </a:stretch>
        </p:blipFill>
        <p:spPr>
          <a:xfrm>
            <a:off x="5532120" y="0"/>
            <a:ext cx="6659880" cy="788246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64355-2050-036A-0D71-B2E2E3456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467" y="999067"/>
            <a:ext cx="4885266" cy="4868333"/>
          </a:xfrm>
        </p:spPr>
        <p:txBody>
          <a:bodyPr>
            <a:norm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Single Entry Point:</a:t>
            </a:r>
            <a:r>
              <a:rPr lang="en-IN" sz="1800" dirty="0">
                <a:solidFill>
                  <a:schemeClr val="bg1"/>
                </a:solidFill>
              </a:rPr>
              <a:t> All traffic goes through API Gateway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Independent Databases:</a:t>
            </a:r>
            <a:r>
              <a:rPr lang="en-IN" sz="1800" dirty="0">
                <a:solidFill>
                  <a:schemeClr val="bg1"/>
                </a:solidFill>
              </a:rPr>
              <a:t> Each microservice owns its data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Service Discovery:</a:t>
            </a:r>
            <a:r>
              <a:rPr lang="en-IN" sz="1800" dirty="0">
                <a:solidFill>
                  <a:schemeClr val="bg1"/>
                </a:solidFill>
              </a:rPr>
              <a:t> Eureka dynamically registers all services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Feign Clients:</a:t>
            </a:r>
            <a:r>
              <a:rPr lang="en-IN" sz="1800" dirty="0">
                <a:solidFill>
                  <a:schemeClr val="bg1"/>
                </a:solidFill>
              </a:rPr>
              <a:t> </a:t>
            </a:r>
            <a:r>
              <a:rPr lang="en-IN" sz="1800" dirty="0" err="1">
                <a:solidFill>
                  <a:schemeClr val="bg1"/>
                </a:solidFill>
              </a:rPr>
              <a:t>Order→Cart</a:t>
            </a:r>
            <a:r>
              <a:rPr lang="en-IN" sz="1800" dirty="0">
                <a:solidFill>
                  <a:schemeClr val="bg1"/>
                </a:solidFill>
              </a:rPr>
              <a:t>, </a:t>
            </a:r>
            <a:r>
              <a:rPr lang="en-IN" sz="1800" dirty="0" err="1">
                <a:solidFill>
                  <a:schemeClr val="bg1"/>
                </a:solidFill>
              </a:rPr>
              <a:t>Cart→Product</a:t>
            </a:r>
            <a:r>
              <a:rPr lang="en-IN" sz="1800" dirty="0">
                <a:solidFill>
                  <a:schemeClr val="bg1"/>
                </a:solidFill>
              </a:rPr>
              <a:t> (sync calls)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Kafka Events:</a:t>
            </a:r>
            <a:r>
              <a:rPr lang="en-IN" sz="1800" dirty="0">
                <a:solidFill>
                  <a:schemeClr val="bg1"/>
                </a:solidFill>
              </a:rPr>
              <a:t> Order placed → Payment triggered → Notification sent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238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4C6C1-8F27-F0F8-D005-A1E36AC42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333" y="84667"/>
            <a:ext cx="9601200" cy="677333"/>
          </a:xfrm>
        </p:spPr>
        <p:txBody>
          <a:bodyPr>
            <a:normAutofit fontScale="90000"/>
          </a:bodyPr>
          <a:lstStyle/>
          <a:p>
            <a:r>
              <a:rPr lang="en-IN" dirty="0"/>
              <a:t>Use Case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497690-1286-D13A-63DA-1D9E7C3F7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7533" y="821267"/>
            <a:ext cx="10210800" cy="603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657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34F08-FFB8-D49A-104E-DAC86F164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200"/>
            <a:ext cx="5384800" cy="6858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Sequence Diagram — Place Order Flow</a:t>
            </a:r>
            <a:br>
              <a:rPr lang="en-GB" b="1" dirty="0"/>
            </a:b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0ECCBF6-8EA6-13CA-B78B-9967C9AE056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917" r="1917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5FBCB-76A2-202B-A482-6564A6F40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7067" y="1337733"/>
            <a:ext cx="4927600" cy="4529667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chemeClr val="bg1"/>
                </a:solidFill>
              </a:rPr>
              <a:t>Customer logs in → receives JWT Token</a:t>
            </a:r>
          </a:p>
          <a:p>
            <a:r>
              <a:rPr lang="en-GB" dirty="0">
                <a:solidFill>
                  <a:schemeClr val="bg1"/>
                </a:solidFill>
              </a:rPr>
              <a:t>Frontend sends Place Order request with JWT</a:t>
            </a:r>
          </a:p>
          <a:p>
            <a:r>
              <a:rPr lang="en-GB" dirty="0">
                <a:solidFill>
                  <a:schemeClr val="bg1"/>
                </a:solidFill>
              </a:rPr>
              <a:t>API Gateway validates JWT and routes to Order Service</a:t>
            </a:r>
          </a:p>
          <a:p>
            <a:r>
              <a:rPr lang="en-GB" dirty="0">
                <a:solidFill>
                  <a:schemeClr val="bg1"/>
                </a:solidFill>
              </a:rPr>
              <a:t>Order Service fetches cart via Feign Client</a:t>
            </a:r>
          </a:p>
          <a:p>
            <a:r>
              <a:rPr lang="en-GB" dirty="0">
                <a:solidFill>
                  <a:schemeClr val="bg1"/>
                </a:solidFill>
              </a:rPr>
              <a:t>Order is saved to Order DB</a:t>
            </a:r>
          </a:p>
          <a:p>
            <a:r>
              <a:rPr lang="en-GB" dirty="0">
                <a:solidFill>
                  <a:schemeClr val="bg1"/>
                </a:solidFill>
              </a:rPr>
              <a:t>Kafka event ORDER_PLACED is published</a:t>
            </a:r>
          </a:p>
          <a:p>
            <a:r>
              <a:rPr lang="en-GB" dirty="0">
                <a:solidFill>
                  <a:schemeClr val="bg1"/>
                </a:solidFill>
              </a:rPr>
              <a:t>Payment Service consumes event and processes </a:t>
            </a:r>
            <a:r>
              <a:rPr lang="en-GB" dirty="0" err="1">
                <a:solidFill>
                  <a:schemeClr val="bg1"/>
                </a:solidFill>
              </a:rPr>
              <a:t>Razorpay</a:t>
            </a:r>
            <a:r>
              <a:rPr lang="en-GB" dirty="0">
                <a:solidFill>
                  <a:schemeClr val="bg1"/>
                </a:solidFill>
              </a:rPr>
              <a:t> payment</a:t>
            </a:r>
          </a:p>
          <a:p>
            <a:r>
              <a:rPr lang="en-GB" dirty="0">
                <a:solidFill>
                  <a:schemeClr val="bg1"/>
                </a:solidFill>
              </a:rPr>
              <a:t>Payment Service publishes PAYMENT_DONE event</a:t>
            </a:r>
          </a:p>
          <a:p>
            <a:r>
              <a:rPr lang="en-GB" dirty="0">
                <a:solidFill>
                  <a:schemeClr val="bg1"/>
                </a:solidFill>
              </a:rPr>
              <a:t>Notification Service consumes event and sends email/SMS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220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56023-5FC9-DE55-674A-A3CE6F762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ER Diagram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927D65-691B-135E-A024-E75309CC1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7468" y="1388533"/>
            <a:ext cx="11404600" cy="53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55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7F554-5CAF-C6F4-1C37-D483B771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94733"/>
            <a:ext cx="10092267" cy="795867"/>
          </a:xfrm>
        </p:spPr>
        <p:txBody>
          <a:bodyPr>
            <a:normAutofit fontScale="90000"/>
          </a:bodyPr>
          <a:lstStyle/>
          <a:p>
            <a:r>
              <a:rPr lang="en-IN" dirty="0"/>
              <a:t>Functionalities:</a:t>
            </a:r>
            <a:br>
              <a:rPr lang="en-IN" dirty="0"/>
            </a:br>
            <a:r>
              <a:rPr lang="en-GB" sz="2700" dirty="0"/>
              <a:t>The platform provides the following core functionalities across its microservices:</a:t>
            </a:r>
            <a:endParaRPr lang="en-IN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9464D-172F-F9CA-241A-A6B31042D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59467"/>
            <a:ext cx="9601200" cy="4868333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1.User &amp; Authentication Management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User registration and login with JWT-based authentication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Tracking new users with </a:t>
            </a:r>
            <a:r>
              <a:rPr lang="en-US" altLang="en-US" dirty="0" err="1">
                <a:solidFill>
                  <a:schemeClr val="tx1"/>
                </a:solidFill>
                <a:latin typeface="Arial Unicode MS"/>
              </a:rPr>
              <a:t>is_new_user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 flag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Role-based access control for admin and customers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2.Product Catalog Management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CRUD operations on products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Stock management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Product reviews and ratings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3.Shopping Cart Management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Add, remove, or update product quantities in cart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Check product availability via inter-service communication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Calculate cart totals dynamically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946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35F47B-E6C2-D330-DB5A-ACD030B5F50D}"/>
              </a:ext>
            </a:extLst>
          </p:cNvPr>
          <p:cNvSpPr txBox="1"/>
          <p:nvPr/>
        </p:nvSpPr>
        <p:spPr>
          <a:xfrm>
            <a:off x="1253067" y="335846"/>
            <a:ext cx="95758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4.Order 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discount or coupon codes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checkout and create orders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stock quantities in Product Service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5.Payment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Razorpay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payment gateway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payment signature verification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order status upon successful payment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6.Notification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 asynchronous notifications via email or in-app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Welcome messages for new users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and payment confirmation alerts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7.Frontend User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dashboard for managing products, orders, and users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dashboard for browsing products, managing cart, and tracking orders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integration using Axios/Fetch with React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877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3D62D-D63D-2156-8D27-1FE7669A3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27000"/>
            <a:ext cx="9601200" cy="7281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Future Enhancements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01C500-F12E-A709-9C4F-E77287A475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5099110"/>
              </p:ext>
            </p:extLst>
          </p:nvPr>
        </p:nvGraphicFramePr>
        <p:xfrm>
          <a:off x="1295400" y="855133"/>
          <a:ext cx="9347199" cy="583678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115733">
                  <a:extLst>
                    <a:ext uri="{9D8B030D-6E8A-4147-A177-3AD203B41FA5}">
                      <a16:colId xmlns:a16="http://schemas.microsoft.com/office/drawing/2014/main" val="2157528653"/>
                    </a:ext>
                  </a:extLst>
                </a:gridCol>
                <a:gridCol w="3115733">
                  <a:extLst>
                    <a:ext uri="{9D8B030D-6E8A-4147-A177-3AD203B41FA5}">
                      <a16:colId xmlns:a16="http://schemas.microsoft.com/office/drawing/2014/main" val="568821126"/>
                    </a:ext>
                  </a:extLst>
                </a:gridCol>
                <a:gridCol w="3115733">
                  <a:extLst>
                    <a:ext uri="{9D8B030D-6E8A-4147-A177-3AD203B41FA5}">
                      <a16:colId xmlns:a16="http://schemas.microsoft.com/office/drawing/2014/main" val="3829119921"/>
                    </a:ext>
                  </a:extLst>
                </a:gridCol>
              </a:tblGrid>
              <a:tr h="2520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#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Enhancement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Description</a:t>
                      </a:r>
                    </a:p>
                  </a:txBody>
                  <a:tcPr marL="40698" marR="40698" marT="20349" marB="20349" anchor="ctr"/>
                </a:tc>
                <a:extLst>
                  <a:ext uri="{0D108BD9-81ED-4DB2-BD59-A6C34878D82A}">
                    <a16:rowId xmlns:a16="http://schemas.microsoft.com/office/drawing/2014/main" val="3787473755"/>
                  </a:ext>
                </a:extLst>
              </a:tr>
              <a:tr h="441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1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 Elasticsearch Integration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Full-text product search with filters and fuzzy matching</a:t>
                      </a:r>
                    </a:p>
                  </a:txBody>
                  <a:tcPr marL="40698" marR="40698" marT="20349" marB="20349" anchor="ctr"/>
                </a:tc>
                <a:extLst>
                  <a:ext uri="{0D108BD9-81ED-4DB2-BD59-A6C34878D82A}">
                    <a16:rowId xmlns:a16="http://schemas.microsoft.com/office/drawing/2014/main" val="2665584020"/>
                  </a:ext>
                </a:extLst>
              </a:tr>
              <a:tr h="441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2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 Mobile App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React Native mobile app for Android and iOS</a:t>
                      </a:r>
                    </a:p>
                  </a:txBody>
                  <a:tcPr marL="40698" marR="40698" marT="20349" marB="20349" anchor="ctr"/>
                </a:tc>
                <a:extLst>
                  <a:ext uri="{0D108BD9-81ED-4DB2-BD59-A6C34878D82A}">
                    <a16:rowId xmlns:a16="http://schemas.microsoft.com/office/drawing/2014/main" val="3950690725"/>
                  </a:ext>
                </a:extLst>
              </a:tr>
              <a:tr h="441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3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 AI Product Recommendations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ML-based personalized product suggestions</a:t>
                      </a:r>
                    </a:p>
                  </a:txBody>
                  <a:tcPr marL="40698" marR="40698" marT="20349" marB="20349" anchor="ctr"/>
                </a:tc>
                <a:extLst>
                  <a:ext uri="{0D108BD9-81ED-4DB2-BD59-A6C34878D82A}">
                    <a16:rowId xmlns:a16="http://schemas.microsoft.com/office/drawing/2014/main" val="2946132369"/>
                  </a:ext>
                </a:extLst>
              </a:tr>
              <a:tr h="441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4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 Cloud Deployment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Deploy to AWS / Azure / GCP using Kubernetes (K8s)</a:t>
                      </a:r>
                    </a:p>
                  </a:txBody>
                  <a:tcPr marL="40698" marR="40698" marT="20349" marB="20349" anchor="ctr"/>
                </a:tc>
                <a:extLst>
                  <a:ext uri="{0D108BD9-81ED-4DB2-BD59-A6C34878D82A}">
                    <a16:rowId xmlns:a16="http://schemas.microsoft.com/office/drawing/2014/main" val="4250383832"/>
                  </a:ext>
                </a:extLst>
              </a:tr>
              <a:tr h="441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5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 Analytics Dashboard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Real-time sales analytics with charts for admin</a:t>
                      </a:r>
                    </a:p>
                  </a:txBody>
                  <a:tcPr marL="40698" marR="40698" marT="20349" marB="20349" anchor="ctr"/>
                </a:tc>
                <a:extLst>
                  <a:ext uri="{0D108BD9-81ED-4DB2-BD59-A6C34878D82A}">
                    <a16:rowId xmlns:a16="http://schemas.microsoft.com/office/drawing/2014/main" val="3127010632"/>
                  </a:ext>
                </a:extLst>
              </a:tr>
              <a:tr h="441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6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 Multi-Language Support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Internationalization (i18n) for multiple languages</a:t>
                      </a:r>
                    </a:p>
                  </a:txBody>
                  <a:tcPr marL="40698" marR="40698" marT="20349" marB="20349" anchor="ctr"/>
                </a:tc>
                <a:extLst>
                  <a:ext uri="{0D108BD9-81ED-4DB2-BD59-A6C34878D82A}">
                    <a16:rowId xmlns:a16="http://schemas.microsoft.com/office/drawing/2014/main" val="2361933859"/>
                  </a:ext>
                </a:extLst>
              </a:tr>
              <a:tr h="441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7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 Live Chat Support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Real-time customer support using WebSockets</a:t>
                      </a:r>
                    </a:p>
                  </a:txBody>
                  <a:tcPr marL="40698" marR="40698" marT="20349" marB="20349" anchor="ctr"/>
                </a:tc>
                <a:extLst>
                  <a:ext uri="{0D108BD9-81ED-4DB2-BD59-A6C34878D82A}">
                    <a16:rowId xmlns:a16="http://schemas.microsoft.com/office/drawing/2014/main" val="3603626037"/>
                  </a:ext>
                </a:extLst>
              </a:tr>
              <a:tr h="441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8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 OAuth2 / SSO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Google / GitHub login with Spring Security OAuth2</a:t>
                      </a:r>
                    </a:p>
                  </a:txBody>
                  <a:tcPr marL="40698" marR="40698" marT="20349" marB="20349" anchor="ctr"/>
                </a:tc>
                <a:extLst>
                  <a:ext uri="{0D108BD9-81ED-4DB2-BD59-A6C34878D82A}">
                    <a16:rowId xmlns:a16="http://schemas.microsoft.com/office/drawing/2014/main" val="3887984590"/>
                  </a:ext>
                </a:extLst>
              </a:tr>
              <a:tr h="441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9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 Inventory Alerts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Auto-notify vendors when stock is low</a:t>
                      </a:r>
                    </a:p>
                  </a:txBody>
                  <a:tcPr marL="40698" marR="40698" marT="20349" marB="20349" anchor="ctr"/>
                </a:tc>
                <a:extLst>
                  <a:ext uri="{0D108BD9-81ED-4DB2-BD59-A6C34878D82A}">
                    <a16:rowId xmlns:a16="http://schemas.microsoft.com/office/drawing/2014/main" val="2326002543"/>
                  </a:ext>
                </a:extLst>
              </a:tr>
              <a:tr h="441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10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 Flash Sales / Deals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Time-limited offers and promotional pricing</a:t>
                      </a:r>
                    </a:p>
                  </a:txBody>
                  <a:tcPr marL="40698" marR="40698" marT="20349" marB="20349" anchor="ctr"/>
                </a:tc>
                <a:extLst>
                  <a:ext uri="{0D108BD9-81ED-4DB2-BD59-A6C34878D82A}">
                    <a16:rowId xmlns:a16="http://schemas.microsoft.com/office/drawing/2014/main" val="2077772776"/>
                  </a:ext>
                </a:extLst>
              </a:tr>
              <a:tr h="441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11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 Product Reviews &amp; Ratings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Customer reviews with star rating system</a:t>
                      </a:r>
                    </a:p>
                  </a:txBody>
                  <a:tcPr marL="40698" marR="40698" marT="20349" marB="20349" anchor="ctr"/>
                </a:tc>
                <a:extLst>
                  <a:ext uri="{0D108BD9-81ED-4DB2-BD59-A6C34878D82A}">
                    <a16:rowId xmlns:a16="http://schemas.microsoft.com/office/drawing/2014/main" val="4079483147"/>
                  </a:ext>
                </a:extLst>
              </a:tr>
              <a:tr h="441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12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 CI/CD Pipeline</a:t>
                      </a:r>
                    </a:p>
                  </a:txBody>
                  <a:tcPr marL="40698" marR="40698" marT="20349" marB="20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Jenkins / GitHub Actions for automated deployment</a:t>
                      </a:r>
                    </a:p>
                  </a:txBody>
                  <a:tcPr marL="40698" marR="40698" marT="20349" marB="20349" anchor="ctr"/>
                </a:tc>
                <a:extLst>
                  <a:ext uri="{0D108BD9-81ED-4DB2-BD59-A6C34878D82A}">
                    <a16:rowId xmlns:a16="http://schemas.microsoft.com/office/drawing/2014/main" val="2756818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042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07A7-72FB-47E1-0379-D4FA3E3B0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46667"/>
          </a:xfrm>
        </p:spPr>
        <p:txBody>
          <a:bodyPr/>
          <a:lstStyle/>
          <a:p>
            <a:r>
              <a:rPr lang="en-GB" dirty="0"/>
              <a:t>Conclusion: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C42F7-FC45-CD9F-7E37-E4EDC634C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2399"/>
            <a:ext cx="9601200" cy="5122333"/>
          </a:xfrm>
        </p:spPr>
        <p:txBody>
          <a:bodyPr>
            <a:normAutofit/>
          </a:bodyPr>
          <a:lstStyle/>
          <a:p>
            <a:r>
              <a:rPr lang="en-GB" dirty="0"/>
              <a:t>Smart Cart successfully demonstrates the power of a </a:t>
            </a:r>
            <a:r>
              <a:rPr lang="en-GB" b="1" dirty="0"/>
              <a:t>microservices architecture</a:t>
            </a:r>
            <a:r>
              <a:rPr lang="en-GB" dirty="0"/>
              <a:t> applied to a real-world e-commerce platform.</a:t>
            </a:r>
          </a:p>
          <a:p>
            <a:r>
              <a:rPr lang="en-GB" dirty="0"/>
              <a:t>Each service is </a:t>
            </a:r>
            <a:r>
              <a:rPr lang="en-GB" b="1" dirty="0"/>
              <a:t>independently deployable, scalable, and maintainable</a:t>
            </a:r>
            <a:r>
              <a:rPr lang="en-GB" dirty="0"/>
              <a:t> — solving the core limitations of monolithic systems.</a:t>
            </a:r>
          </a:p>
          <a:p>
            <a:r>
              <a:rPr lang="en-GB" b="1" dirty="0"/>
              <a:t>JWT + API Gateway</a:t>
            </a:r>
            <a:r>
              <a:rPr lang="en-GB" dirty="0"/>
              <a:t> provides centralized, secure authentication without duplicating security logic across services.</a:t>
            </a:r>
          </a:p>
          <a:p>
            <a:r>
              <a:rPr lang="en-GB" b="1" dirty="0"/>
              <a:t>Apache Kafka</a:t>
            </a:r>
            <a:r>
              <a:rPr lang="en-GB" dirty="0"/>
              <a:t> enables loosely coupled, real-time communication between Order, Payment, and Notification services.</a:t>
            </a:r>
          </a:p>
          <a:p>
            <a:r>
              <a:rPr lang="en-GB" b="1" dirty="0"/>
              <a:t>Docker</a:t>
            </a:r>
            <a:r>
              <a:rPr lang="en-GB" dirty="0"/>
              <a:t> ensures the entire system can be brought up consistently on any machine with a single command: docker-compose up.</a:t>
            </a:r>
          </a:p>
          <a:p>
            <a:r>
              <a:rPr lang="en-GB" dirty="0"/>
              <a:t>The </a:t>
            </a:r>
            <a:r>
              <a:rPr lang="en-GB" b="1" dirty="0"/>
              <a:t>React.js frontend</a:t>
            </a:r>
            <a:r>
              <a:rPr lang="en-GB" dirty="0"/>
              <a:t> provides a seamless, modern user experience with role-based navigation.</a:t>
            </a:r>
          </a:p>
          <a:p>
            <a:r>
              <a:rPr lang="en-GB" dirty="0"/>
              <a:t>The project demonstrates industry-standard practices: service discovery, inter-service Feign communication, event-driven architecture, and containerization.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8919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E56CC-9487-C3B5-A9C1-14B3856A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6733" y="1100666"/>
            <a:ext cx="9601200" cy="1485900"/>
          </a:xfrm>
        </p:spPr>
        <p:txBody>
          <a:bodyPr/>
          <a:lstStyle/>
          <a:p>
            <a:r>
              <a:rPr lang="en-IN" b="1" dirty="0"/>
              <a:t> </a:t>
            </a:r>
            <a:r>
              <a:rPr lang="en-IN" sz="4800" b="1" dirty="0"/>
              <a:t>Thank You / Q&amp;A</a:t>
            </a:r>
            <a:br>
              <a:rPr lang="en-IN" sz="4800" b="1" dirty="0"/>
            </a:b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3E868-3927-8350-81C8-2A8611B42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6733" y="3276600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b="1" dirty="0"/>
              <a:t>"Smart Cart — Built for Scale, Designed for Real World"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49439779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{9748A16B-0483-47FA-8E25-0F594B80985E}TFc3084226-2d0c-440f-9f46-6b48c7a7f670e6ba4a85-fc4a2881d6b3</Template>
  <TotalTime>42</TotalTime>
  <Words>1148</Words>
  <Application>Microsoft Office PowerPoint</Application>
  <PresentationFormat>Widescreen</PresentationFormat>
  <Paragraphs>219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Unicode MS</vt:lpstr>
      <vt:lpstr>Franklin Gothic Book</vt:lpstr>
      <vt:lpstr>Crop</vt:lpstr>
      <vt:lpstr> Smart Cart </vt:lpstr>
      <vt:lpstr>Table of Contents </vt:lpstr>
      <vt:lpstr>Problem Statement </vt:lpstr>
      <vt:lpstr>Our Objectives </vt:lpstr>
      <vt:lpstr> System Overview  </vt:lpstr>
      <vt:lpstr>Technology Stack </vt:lpstr>
      <vt:lpstr>Frontend        Infrastructure &amp; DevOps  </vt:lpstr>
      <vt:lpstr>System Architecture  </vt:lpstr>
      <vt:lpstr>Use Case Diagram</vt:lpstr>
      <vt:lpstr>Sequence Diagram — Place Order Flow </vt:lpstr>
      <vt:lpstr>ER Diagram </vt:lpstr>
      <vt:lpstr>Functionalities: The platform provides the following core functionalities across its microservices:</vt:lpstr>
      <vt:lpstr>PowerPoint Presentation</vt:lpstr>
      <vt:lpstr>Future Enhancements </vt:lpstr>
      <vt:lpstr>Conclusion:</vt:lpstr>
      <vt:lpstr> Thank You / Q&amp;A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 .</dc:creator>
  <cp:lastModifiedBy>dell .</cp:lastModifiedBy>
  <cp:revision>1</cp:revision>
  <dcterms:created xsi:type="dcterms:W3CDTF">2026-05-04T07:55:20Z</dcterms:created>
  <dcterms:modified xsi:type="dcterms:W3CDTF">2026-07-23T16:48:01Z</dcterms:modified>
</cp:coreProperties>
</file>